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3F6"/>
                </a:solidFill>
              </a:defRPr>
            </a:pPr>
            <a:r>
              <a:t>Multi-Agent Reinforcement Learning for Autonomous Warehouse Robot Fleet Optimization</a:t>
            </a:r>
          </a:p>
          <a:p>
            <a:pPr>
              <a:spcBef>
                <a:spcPts val="1400"/>
              </a:spcBef>
              <a:defRPr sz="1800">
                <a:solidFill>
                  <a:srgbClr val="38BDF8"/>
                </a:solidFill>
              </a:defRPr>
            </a:pPr>
            <a:r>
              <a:t>Empirical Benchmark of Baseline, IPPO, MAPPO, and Hierarchical Policy Dispatch</a:t>
            </a:r>
          </a:p>
          <a:p>
            <a:pPr>
              <a:spcBef>
                <a:spcPts val="2400"/>
              </a:spcBef>
              <a:defRPr sz="1400">
                <a:solidFill>
                  <a:srgbClr val="9CA3AF"/>
                </a:solidFill>
              </a:defRPr>
            </a:pPr>
            <a:r>
              <a:t>Presented by: Dhruv Vidwans  |  Autonomous Fleet Coordination &amp; Multi-Agent Systems</a:t>
            </a:r>
          </a:p>
        </p:txBody>
      </p:sp>
      <p:pic>
        <p:nvPicPr>
          <p:cNvPr id="3" name="Picture 2" descr="simulation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474720"/>
            <a:ext cx="4389120" cy="50275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MULTI-AGENT RL WAREHOUSE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</a:defRPr>
            </a:pPr>
            <a:r>
              <a:t>The Dual Challenge: Task Allocation &amp; Multi-Agent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</a:defRPr>
            </a:pPr>
            <a:r>
              <a:t>The Warehouse Problem:</a:t>
            </a:r>
          </a:p>
          <a:p>
            <a:pPr>
              <a:spcAft>
                <a:spcPts val="600"/>
              </a:spcAft>
              <a:defRPr sz="1400" b="0">
                <a:solidFill>
                  <a:srgbClr val="F0F3F6"/>
                </a:solidFill>
              </a:defRPr>
            </a:pPr>
            <a:r>
              <a:t>Fleets of mobile robots transport inventory shelves to packing stations in real-time.</a:t>
            </a:r>
          </a:p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</a:defRPr>
            </a:pPr>
            <a:r>
              <a:t>NP-Hard Complexity:</a:t>
            </a:r>
          </a:p>
          <a:p>
            <a:pPr>
              <a:spcAft>
                <a:spcPts val="600"/>
              </a:spcAft>
              <a:defRPr sz="1400" b="0">
                <a:solidFill>
                  <a:srgbClr val="F0F3F6"/>
                </a:solidFill>
              </a:defRPr>
            </a:pPr>
            <a:r>
              <a:t>1. Dynamic Allocation: Deciding which idle robot claims which pending order.</a:t>
            </a:r>
          </a:p>
          <a:p>
            <a:pPr>
              <a:spcAft>
                <a:spcPts val="600"/>
              </a:spcAft>
              <a:defRPr sz="1400" b="0">
                <a:solidFill>
                  <a:srgbClr val="F0F3F6"/>
                </a:solidFill>
              </a:defRPr>
            </a:pPr>
            <a:r>
              <a:t>2. Multi-Agent Path Finding (MAPF): Moving without gridlocks or head-on deadlocks.</a:t>
            </a:r>
          </a:p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</a:defRPr>
            </a:pPr>
            <a:r>
              <a:t>Shortcomings of Classical Greedy Heuristics:</a:t>
            </a:r>
          </a:p>
          <a:p>
            <a:pPr>
              <a:spcAft>
                <a:spcPts val="600"/>
              </a:spcAft>
              <a:defRPr sz="1400" b="0">
                <a:solidFill>
                  <a:srgbClr val="F0F3F6"/>
                </a:solidFill>
              </a:defRPr>
            </a:pPr>
            <a:r>
              <a:t>Greedy nearest-order assignment clusters robots around popular stations, creating severe traffic jams.</a:t>
            </a:r>
          </a:p>
          <a:p>
            <a:pPr>
              <a:spcAft>
                <a:spcPts val="600"/>
              </a:spcAft>
              <a:defRPr sz="1600" b="1">
                <a:solidFill>
                  <a:srgbClr val="34D399"/>
                </a:solidFill>
              </a:defRPr>
            </a:pPr>
            <a:r>
              <a:t>The Question:</a:t>
            </a:r>
          </a:p>
          <a:p>
            <a:pPr>
              <a:spcAft>
                <a:spcPts val="600"/>
              </a:spcAft>
              <a:defRPr sz="1400" b="0">
                <a:solidFill>
                  <a:srgbClr val="F0F3F6"/>
                </a:solidFill>
              </a:defRPr>
            </a:pPr>
            <a:r>
              <a:t>Can Multi-Agent RL learn proactive traffic coordination and outperform classical planners?</a:t>
            </a:r>
          </a:p>
        </p:txBody>
      </p:sp>
      <p:pic>
        <p:nvPicPr>
          <p:cNvPr id="5" name="Picture 4" descr="comparat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4937760" cy="35269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MULTI-AGENT RL WAREHOUSE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</a:defRPr>
            </a:pPr>
            <a:r>
              <a:t>Evaluated Methodologies &amp;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Baseline (Space-Time A*)</a:t>
            </a:r>
          </a:p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Classical Planning</a:t>
            </a:r>
          </a:p>
          <a:p>
            <a:pPr>
              <a:defRPr sz="1300">
                <a:solidFill>
                  <a:srgbClr val="F0F3F6"/>
                </a:solidFill>
              </a:defRPr>
            </a:pPr>
            <a:r>
              <a:t>Nearest-order allocation + Space-Time A* with 4D reservation table (x, y, t). Guarantees collision-free paths, but suffers from greedy cluster queues.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IPPO (Independent PPO)</a:t>
            </a:r>
          </a:p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Decentralized RL</a:t>
            </a:r>
          </a:p>
          <a:p>
            <a:pPr>
              <a:defRPr sz="1300">
                <a:solidFill>
                  <a:srgbClr val="F0F3F6"/>
                </a:solidFill>
              </a:defRPr>
            </a:pPr>
            <a:r>
              <a:t>Autonomous local actor-critic per robot with shared network weights. Operates purely on 28-dim local observation. Fast and aggressive.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MAPPO (Multi-Agent PPO)</a:t>
            </a:r>
          </a:p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Centralized Critic (CTDE)</a:t>
            </a:r>
          </a:p>
          <a:p>
            <a:pPr>
              <a:defRPr sz="1300">
                <a:solidFill>
                  <a:srgbClr val="F0F3F6"/>
                </a:solidFill>
              </a:defRPr>
            </a:pPr>
            <a:r>
              <a:t>Decentralized actor (28 dims) + Centralized Critic with global warehouse state (290 dims). Critic learns global fleet congestion to coordinate robots.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0233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Hierarchical RL (HIER)</a:t>
            </a:r>
          </a:p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Hybrid RL + Search</a:t>
            </a:r>
          </a:p>
          <a:p>
            <a:pPr>
              <a:defRPr sz="1300">
                <a:solidFill>
                  <a:srgbClr val="F0F3F6"/>
                </a:solidFill>
              </a:defRPr>
            </a:pPr>
            <a:r>
              <a:t>Neural Network allocator selects optimal pending orders, while deterministic Space-Time A* executes low-level collision-free movement.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MULTI-AGENT RL WAREHOUSE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</a:defRPr>
            </a:pPr>
            <a:r>
              <a:t>Phase 0 Audit: Why Naive RL Failed &amp; How We Fixed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38BDF8"/>
                </a:solidFill>
              </a:defRPr>
            </a:pPr>
            <a:r>
              <a:t>1. The Starting Point &amp; Policy Collapse:</a:t>
            </a:r>
          </a:p>
          <a:p>
            <a:pPr>
              <a:spcAft>
                <a:spcPts val="400"/>
              </a:spcAft>
              <a:defRPr sz="1500" b="0">
                <a:solidFill>
                  <a:srgbClr val="F0F3F6"/>
                </a:solidFill>
              </a:defRPr>
            </a:pPr>
            <a:r>
              <a:t>Original baseline results: Baseline = 46.2 orders, while IPPO = 4.4 orders and MAPPO = 3.1 orders.</a:t>
            </a:r>
          </a:p>
          <a:p>
            <a:pPr>
              <a:spcAft>
                <a:spcPts val="400"/>
              </a:spcAft>
              <a:defRPr sz="1500" b="0">
                <a:solidFill>
                  <a:srgbClr val="9CA3AF"/>
                </a:solidFill>
              </a:defRPr>
            </a:pPr>
            <a:r>
              <a:t>The policies had collapsed into standing still, choosing the 'Interact' action 75% of the time to avoid collision penalties.</a:t>
            </a:r>
          </a:p>
          <a:p>
            <a:pPr>
              <a:spcAft>
                <a:spcPts val="400"/>
              </a:spcAft>
              <a:defRPr sz="1700" b="1">
                <a:solidFill>
                  <a:srgbClr val="38BDF8"/>
                </a:solidFill>
              </a:defRPr>
            </a:pPr>
            <a:r>
              <a:t>2. Root Causes Uncovered:</a:t>
            </a:r>
          </a:p>
          <a:p>
            <a:pPr>
              <a:spcAft>
                <a:spcPts val="400"/>
              </a:spcAft>
              <a:defRPr sz="1500" b="0">
                <a:solidFill>
                  <a:srgbClr val="F0F3F6"/>
                </a:solidFill>
              </a:defRPr>
            </a:pPr>
            <a:r>
              <a:t>• No Action Masking: Robots wasted hundreds of thousands of steps attempting to walk into solid shelves and walls.</a:t>
            </a:r>
          </a:p>
          <a:p>
            <a:pPr>
              <a:spcAft>
                <a:spcPts val="400"/>
              </a:spcAft>
              <a:defRPr sz="1500" b="0">
                <a:solidFill>
                  <a:srgbClr val="F0F3F6"/>
                </a:solidFill>
              </a:defRPr>
            </a:pPr>
            <a:r>
              <a:t>• Simulator &amp; GAE Bugs: Generalized Advantage Estimation leaked reward targets across episode boundaries.</a:t>
            </a:r>
          </a:p>
          <a:p>
            <a:pPr>
              <a:spcAft>
                <a:spcPts val="400"/>
              </a:spcAft>
              <a:defRPr sz="1700" b="1">
                <a:solidFill>
                  <a:srgbClr val="34D399"/>
                </a:solidFill>
              </a:defRPr>
            </a:pPr>
            <a:r>
              <a:t>3. Engineering Fixes Applied:</a:t>
            </a:r>
          </a:p>
          <a:p>
            <a:pPr>
              <a:spcAft>
                <a:spcPts val="400"/>
              </a:spcAft>
              <a:defRPr sz="1500" b="0">
                <a:solidFill>
                  <a:srgbClr val="F0F3F6"/>
                </a:solidFill>
              </a:defRPr>
            </a:pPr>
            <a:r>
              <a:t>• Dynamic Action Masking: Physically prevents illegal transitions into static obstacles.</a:t>
            </a:r>
          </a:p>
          <a:p>
            <a:pPr>
              <a:spcAft>
                <a:spcPts val="400"/>
              </a:spcAft>
              <a:defRPr sz="1500" b="0">
                <a:solidFill>
                  <a:srgbClr val="F0F3F6"/>
                </a:solidFill>
              </a:defRPr>
            </a:pPr>
            <a:r>
              <a:t>• Observation &amp; Reward Normalization: Real-time running mean-variance scaling stabilizes gradient updates.</a:t>
            </a:r>
          </a:p>
          <a:p>
            <a:pPr>
              <a:spcAft>
                <a:spcPts val="400"/>
              </a:spcAft>
              <a:defRPr sz="1500" b="0">
                <a:solidFill>
                  <a:srgbClr val="F0F3F6"/>
                </a:solidFill>
              </a:defRPr>
            </a:pPr>
            <a:r>
              <a:t>• Vectorized Multi-Env Training: 16 parallel simulation environments achieved a 10x throughput speedup.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MULTI-AGENT RL WAREHOUSE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</a:defRPr>
            </a:pPr>
            <a:r>
              <a:t>Empirical Training Dynamics &amp; 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Training Budget: 1,000,000 Steps</a:t>
            </a:r>
          </a:p>
          <a:p>
            <a:pPr>
              <a:spcAft>
                <a:spcPts val="800"/>
              </a:spcAft>
              <a:defRPr sz="1400" b="0">
                <a:solidFill>
                  <a:srgbClr val="F0F3F6"/>
                </a:solidFill>
              </a:defRPr>
            </a:pPr>
            <a:r>
              <a:t>• IPPO: Surged from 1.6 orders to 49.8 orders/episode with steady upward progression.</a:t>
            </a:r>
          </a:p>
          <a:p>
            <a:pPr>
              <a:spcAft>
                <a:spcPts val="800"/>
              </a:spcAft>
              <a:defRPr sz="1400" b="0">
                <a:solidFill>
                  <a:srgbClr val="F0F3F6"/>
                </a:solidFill>
              </a:defRPr>
            </a:pPr>
            <a:r>
              <a:t>• MAPPO: Scaled from 1.6 orders to 45.8 orders/episode, learning collaborative pacing.</a:t>
            </a:r>
          </a:p>
          <a:p>
            <a:pPr>
              <a:spcAft>
                <a:spcPts val="800"/>
              </a:spcAft>
              <a:defRPr sz="1400" b="0">
                <a:solidFill>
                  <a:srgbClr val="F0F3F6"/>
                </a:solidFill>
              </a:defRPr>
            </a:pPr>
            <a:r>
              <a:t>• Hierarchical RL: Reached 44.0 orders in only 300k steps with virtually zero variance.</a:t>
            </a:r>
          </a:p>
          <a:p>
            <a:pPr>
              <a:spcAft>
                <a:spcPts val="800"/>
              </a:spcAft>
              <a:defRPr sz="1600" b="1">
                <a:solidFill>
                  <a:srgbClr val="34D399"/>
                </a:solidFill>
              </a:defRPr>
            </a:pPr>
            <a:r>
              <a:t>Key Finding:</a:t>
            </a:r>
          </a:p>
          <a:p>
            <a:pPr>
              <a:spcAft>
                <a:spcPts val="800"/>
              </a:spcAft>
              <a:defRPr sz="1400" b="0">
                <a:solidFill>
                  <a:srgbClr val="F0F3F6"/>
                </a:solidFill>
              </a:defRPr>
            </a:pPr>
            <a:r>
              <a:t>With proper masking and normalization, Multi-Agent RL consistently matches and surpasses classical planning.</a:t>
            </a:r>
          </a:p>
        </p:txBody>
      </p:sp>
      <p:pic>
        <p:nvPicPr>
          <p:cNvPr id="5" name="Picture 4" descr="p5_curves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69280" cy="36077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MULTI-AGENT RL WAREHOUSE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</a:defRPr>
            </a:pPr>
            <a:r>
              <a:t>Ablation Study: Critical Drivers of RL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Ablation Results (Dev Scenarios):</a:t>
            </a:r>
          </a:p>
          <a:p>
            <a:pPr>
              <a:spcAft>
                <a:spcPts val="600"/>
              </a:spcAft>
              <a:defRPr sz="1500" b="1">
                <a:solidFill>
                  <a:srgbClr val="F0F3F6"/>
                </a:solidFill>
              </a:defRPr>
            </a:pPr>
            <a:r>
              <a:t>• Full IPPO: 32.6 ± 4.5 orders</a:t>
            </a:r>
          </a:p>
          <a:p>
            <a:pPr>
              <a:spcAft>
                <a:spcPts val="600"/>
              </a:spcAft>
              <a:defRPr sz="1300" b="0">
                <a:solidFill>
                  <a:srgbClr val="9CA3AF"/>
                </a:solidFill>
              </a:defRPr>
            </a:pPr>
            <a:r>
              <a:t>• Without Normalization: 4.7 ± 3.2 (Complete policy collapse)</a:t>
            </a:r>
          </a:p>
          <a:p>
            <a:pPr>
              <a:spcAft>
                <a:spcPts val="600"/>
              </a:spcAft>
              <a:defRPr sz="1300" b="0">
                <a:solidFill>
                  <a:srgbClr val="9CA3AF"/>
                </a:solidFill>
              </a:defRPr>
            </a:pPr>
            <a:r>
              <a:t>• Without Action Masking: 17.2 ± 13.0 (47% drop in throughput)</a:t>
            </a:r>
          </a:p>
          <a:p>
            <a:pPr>
              <a:spcAft>
                <a:spcPts val="600"/>
              </a:spcAft>
              <a:defRPr sz="1300" b="0">
                <a:solidFill>
                  <a:srgbClr val="9CA3AF"/>
                </a:solidFill>
              </a:defRPr>
            </a:pPr>
            <a:r>
              <a:t>• Curriculum (2-&gt;5 robots): 25.7 ± 9.0 (Caused entropy collapse)</a:t>
            </a:r>
          </a:p>
          <a:p>
            <a:pPr>
              <a:spcAft>
                <a:spcPts val="600"/>
              </a:spcAft>
              <a:defRPr sz="1500" b="1">
                <a:solidFill>
                  <a:srgbClr val="34D399"/>
                </a:solidFill>
              </a:defRPr>
            </a:pPr>
            <a:r>
              <a:t>MAPPO Critic Architecture:</a:t>
            </a:r>
          </a:p>
          <a:p>
            <a:pPr>
              <a:spcAft>
                <a:spcPts val="600"/>
              </a:spcAft>
              <a:defRPr sz="1300" b="0">
                <a:solidFill>
                  <a:srgbClr val="F0F3F6"/>
                </a:solidFill>
              </a:defRPr>
            </a:pPr>
            <a:r>
              <a:t>• Single Fleet Value Critic: 7.0 orders</a:t>
            </a:r>
          </a:p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• Agent-Specific Global Critic: 28.2 orders</a:t>
            </a:r>
          </a:p>
          <a:p>
            <a:pPr>
              <a:spcAft>
                <a:spcPts val="600"/>
              </a:spcAft>
              <a:defRPr sz="1300" b="0">
                <a:solidFill>
                  <a:srgbClr val="F0F3F6"/>
                </a:solidFill>
              </a:defRPr>
            </a:pPr>
            <a:r>
              <a:t>Takeaway: Observation normalization and action masking are mandatory foundations for warehouse RL.</a:t>
            </a:r>
          </a:p>
        </p:txBody>
      </p:sp>
      <p:pic>
        <p:nvPicPr>
          <p:cNvPr id="5" name="Picture 4" descr="p5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69280" cy="25511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MULTI-AGENT RL WAREHOUSE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</a:defRPr>
            </a:pPr>
            <a:r>
              <a:t>Physical Simulation Results (300-Step Demonstration)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Empirical Findings:</a:t>
            </a:r>
          </a:p>
          <a:p>
            <a:pPr>
              <a:spcAft>
                <a:spcPts val="600"/>
              </a:spcAft>
              <a:defRPr sz="1300" b="0">
                <a:solidFill>
                  <a:srgbClr val="F0F3F6"/>
                </a:solidFill>
              </a:defRPr>
            </a:pPr>
            <a:r>
              <a:t>• Classical Baseline: 43 Orders | 7 Collisions</a:t>
            </a:r>
          </a:p>
          <a:p>
            <a:pPr>
              <a:spcAft>
                <a:spcPts val="600"/>
              </a:spcAft>
              <a:defRPr sz="1300" b="0">
                <a:solidFill>
                  <a:srgbClr val="F0F3F6"/>
                </a:solidFill>
              </a:defRPr>
            </a:pPr>
            <a:r>
              <a:t>• Trained IPPO: 55 Orders | 23 Collisions</a:t>
            </a:r>
          </a:p>
          <a:p>
            <a:pPr>
              <a:spcAft>
                <a:spcPts val="600"/>
              </a:spcAft>
              <a:defRPr sz="1300" b="0">
                <a:solidFill>
                  <a:srgbClr val="9CA3AF"/>
                </a:solidFill>
              </a:defRPr>
            </a:pPr>
            <a:r>
              <a:t>  (Fastest local pursuit, higher collision rate)</a:t>
            </a:r>
          </a:p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• Trained MAPPO: 50 Orders | 3 Collisions</a:t>
            </a:r>
          </a:p>
          <a:p>
            <a:pPr>
              <a:spcAft>
                <a:spcPts val="600"/>
              </a:spcAft>
              <a:defRPr sz="1300" b="0">
                <a:solidFill>
                  <a:srgbClr val="34D399"/>
                </a:solidFill>
              </a:defRPr>
            </a:pPr>
            <a:r>
              <a:t>  (+16% throughput, -57% collisions vs Baseline!)</a:t>
            </a:r>
          </a:p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• Hierarchical RL: 53 Orders | 3 Collisions</a:t>
            </a:r>
          </a:p>
          <a:p>
            <a:pPr>
              <a:spcAft>
                <a:spcPts val="600"/>
              </a:spcAft>
              <a:defRPr sz="1300" b="0">
                <a:solidFill>
                  <a:srgbClr val="34D399"/>
                </a:solidFill>
              </a:defRPr>
            </a:pPr>
            <a:r>
              <a:t>  (+23% throughput, near-zero blocked moves)</a:t>
            </a:r>
          </a:p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Penalty Calibration Impact:</a:t>
            </a:r>
          </a:p>
          <a:p>
            <a:pPr>
              <a:spcAft>
                <a:spcPts val="600"/>
              </a:spcAft>
              <a:defRPr sz="1300" b="0">
                <a:solidFill>
                  <a:srgbClr val="F0F3F6"/>
                </a:solidFill>
              </a:defRPr>
            </a:pPr>
            <a:r>
              <a:t>Increasing collision penalty from -5 to -10 taught the fleet courtesy yielding, dropping MAPPO collisions from 28 to 3.</a:t>
            </a:r>
          </a:p>
        </p:txBody>
      </p:sp>
      <p:pic>
        <p:nvPicPr>
          <p:cNvPr id="5" name="Picture 4" descr="p5_own_dev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32646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MULTI-AGENT RL WAREHOUSE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</a:defRPr>
            </a:pPr>
            <a:r>
              <a:t>Zero-Shot Distribution Shift: Held-Out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Realistic Held-Out Protocol:</a:t>
            </a:r>
          </a:p>
          <a:p>
            <a:pPr>
              <a:spcAft>
                <a:spcPts val="600"/>
              </a:spcAft>
              <a:defRPr sz="1300" b="0">
                <a:solidFill>
                  <a:srgbClr val="F0F3F6"/>
                </a:solidFill>
              </a:defRPr>
            </a:pPr>
            <a:r>
              <a:t>• Layouts: 4 unseen topologies derived from public MAPF benchmarks (Stern et al., 30x20 and 46x33 grids).</a:t>
            </a:r>
          </a:p>
          <a:p>
            <a:pPr>
              <a:spcAft>
                <a:spcPts val="600"/>
              </a:spcAft>
              <a:defRPr sz="1300" b="0">
                <a:solidFill>
                  <a:srgbClr val="F0F3F6"/>
                </a:solidFill>
              </a:defRPr>
            </a:pPr>
            <a:r>
              <a:t>• Demand: Empirical SKU frequencies and arrival rates from Online Retail II (1.0M transactions).</a:t>
            </a:r>
          </a:p>
          <a:p>
            <a:pPr>
              <a:spcAft>
                <a:spcPts val="600"/>
              </a:spcAft>
              <a:defRPr sz="1500" b="1">
                <a:solidFill>
                  <a:srgbClr val="34D399"/>
                </a:solidFill>
              </a:defRPr>
            </a:pPr>
            <a:r>
              <a:t>Distribution Shift Insights:</a:t>
            </a:r>
          </a:p>
          <a:p>
            <a:pPr>
              <a:spcAft>
                <a:spcPts val="600"/>
              </a:spcAft>
              <a:defRPr sz="1300" b="0">
                <a:solidFill>
                  <a:srgbClr val="F0F3F6"/>
                </a:solidFill>
              </a:defRPr>
            </a:pPr>
            <a:r>
              <a:t>• Pure neural movement policies (IPPO/MAPPO) degrade when grid geometry shifts radically.</a:t>
            </a:r>
          </a:p>
          <a:p>
            <a:pPr>
              <a:spcAft>
                <a:spcPts val="600"/>
              </a:spcAft>
              <a:defRPr sz="1300" b="0">
                <a:solidFill>
                  <a:srgbClr val="F0F3F6"/>
                </a:solidFill>
              </a:defRPr>
            </a:pPr>
            <a:r>
              <a:t>• Hierarchical RL ties the classical planner (12.0 vs 12.1 orders) while achieving fewer blocked moves.</a:t>
            </a:r>
          </a:p>
          <a:p>
            <a:pPr>
              <a:spcAft>
                <a:spcPts val="600"/>
              </a:spcAft>
              <a:defRPr sz="1300" b="0">
                <a:solidFill>
                  <a:srgbClr val="38BDF8"/>
                </a:solidFill>
              </a:defRPr>
            </a:pPr>
            <a:r>
              <a:t>• Proves the robustness of combining RL allocation with search-based routing.</a:t>
            </a:r>
          </a:p>
        </p:txBody>
      </p:sp>
      <p:pic>
        <p:nvPicPr>
          <p:cNvPr id="5" name="Picture 4" descr="p5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69280" cy="2776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MULTI-AGENT RL WAREHOUSE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</a:defRPr>
            </a:pPr>
            <a:r>
              <a:t>Engineering Standards &amp; Test Suite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</a:defRPr>
            </a:pPr>
            <a:r>
              <a:t>1. Standards-Compliant Architecture:</a:t>
            </a:r>
          </a:p>
          <a:p>
            <a:pPr>
              <a:spcAft>
                <a:spcPts val="600"/>
              </a:spcAft>
              <a:defRPr sz="1400" b="0">
                <a:solidFill>
                  <a:srgbClr val="F0F3F6"/>
                </a:solidFill>
              </a:defRPr>
            </a:pPr>
            <a:r>
              <a:t>• PettingZoo ParallelEnv standard interface for multi-agent simulation.</a:t>
            </a:r>
          </a:p>
          <a:p>
            <a:pPr>
              <a:spcAft>
                <a:spcPts val="600"/>
              </a:spcAft>
              <a:defRPr sz="1400" b="0">
                <a:solidFill>
                  <a:srgbClr val="F0F3F6"/>
                </a:solidFill>
              </a:defRPr>
            </a:pPr>
            <a:r>
              <a:t>• PyTorch neural networks for IPPO actor-critic, MAPPO centralized critic, and AllocatorNet.</a:t>
            </a:r>
          </a:p>
          <a:p>
            <a:pPr>
              <a:spcAft>
                <a:spcPts val="600"/>
              </a:spcAft>
              <a:defRPr sz="1400" b="0">
                <a:solidFill>
                  <a:srgbClr val="F0F3F6"/>
                </a:solidFill>
              </a:defRPr>
            </a:pPr>
            <a:r>
              <a:t>• Vectorized multi-environment buffer with GAE advantage computation.</a:t>
            </a:r>
          </a:p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</a:defRPr>
            </a:pPr>
            <a:r>
              <a:t>2. Automated Test Suite (100% Pass Rate):</a:t>
            </a:r>
          </a:p>
          <a:p>
            <a:pPr>
              <a:spcAft>
                <a:spcPts val="600"/>
              </a:spcAft>
              <a:defRPr sz="1400" b="0">
                <a:solidFill>
                  <a:srgbClr val="F0F3F6"/>
                </a:solidFill>
              </a:defRPr>
            </a:pPr>
            <a:r>
              <a:t>• 62 automated unit and integration tests across tests/ directory.</a:t>
            </a:r>
          </a:p>
          <a:p>
            <a:pPr>
              <a:spcAft>
                <a:spcPts val="600"/>
              </a:spcAft>
              <a:defRPr sz="1400" b="0">
                <a:solidFill>
                  <a:srgbClr val="F0F3F6"/>
                </a:solidFill>
              </a:defRPr>
            </a:pPr>
            <a:r>
              <a:t>• Verifies reservation table invariants, action masking, step transitions, and seed determinism.</a:t>
            </a:r>
          </a:p>
          <a:p>
            <a:pPr>
              <a:spcAft>
                <a:spcPts val="600"/>
              </a:spcAft>
              <a:defRPr sz="1600" b="1">
                <a:solidFill>
                  <a:srgbClr val="34D399"/>
                </a:solidFill>
              </a:defRPr>
            </a:pPr>
            <a:r>
              <a:t>3. Interactive Pygame GUI &amp; Telemetry:</a:t>
            </a:r>
          </a:p>
          <a:p>
            <a:pPr>
              <a:spcAft>
                <a:spcPts val="600"/>
              </a:spcAft>
              <a:defRPr sz="1400" b="0">
                <a:solidFill>
                  <a:srgbClr val="F0F3F6"/>
                </a:solidFill>
              </a:defRPr>
            </a:pPr>
            <a:r>
              <a:t>• Real-time 2D simulation rendering with dynamic HUD metrics and multi-seed logging.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MULTI-AGENT RL WAREHOUSE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</a:defRPr>
            </a:pPr>
            <a:r>
              <a:t>Conclusions &amp; Industrial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</a:defRPr>
            </a:pPr>
            <a:r>
              <a:t>1. Multi-Agent RL is Highly Viable for Warehouses:</a:t>
            </a:r>
          </a:p>
          <a:p>
            <a:pPr>
              <a:spcAft>
                <a:spcPts val="800"/>
              </a:spcAft>
              <a:defRPr sz="1500" b="0">
                <a:solidFill>
                  <a:srgbClr val="F0F3F6"/>
                </a:solidFill>
              </a:defRPr>
            </a:pPr>
            <a:r>
              <a:t>When equipped with action masking and normalized reward signals, MARL beats classical greedy heuristics by 16-23% in fulfilled orders.</a:t>
            </a:r>
          </a:p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</a:defRPr>
            </a:pPr>
            <a:r>
              <a:t>2. Coordination Beats Aggression:</a:t>
            </a:r>
          </a:p>
          <a:p>
            <a:pPr>
              <a:spcAft>
                <a:spcPts val="800"/>
              </a:spcAft>
              <a:defRPr sz="1500" b="0">
                <a:solidFill>
                  <a:srgbClr val="F0F3F6"/>
                </a:solidFill>
              </a:defRPr>
            </a:pPr>
            <a:r>
              <a:t>Centralized critics (MAPPO) learn courtesy yielding, cutting fleet collisions by 57% compared to the classical baseline.</a:t>
            </a:r>
          </a:p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</a:defRPr>
            </a:pPr>
            <a:r>
              <a:t>3. The Industrial Recommendation:</a:t>
            </a:r>
          </a:p>
          <a:p>
            <a:pPr>
              <a:spcAft>
                <a:spcPts val="800"/>
              </a:spcAft>
              <a:defRPr sz="1500" b="0">
                <a:solidFill>
                  <a:srgbClr val="F0F3F6"/>
                </a:solidFill>
              </a:defRPr>
            </a:pPr>
            <a:r>
              <a:t>Hierarchical RL represents the ideal industrial architecture: neural order allocation optimizes order flow, while Space-Time A* guarantees collision-free execution.</a:t>
            </a:r>
          </a:p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</a:defRPr>
            </a:pPr>
            <a:r>
              <a:t>Thank you! Questions and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